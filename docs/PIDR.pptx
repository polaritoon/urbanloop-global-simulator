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Oswald"/>
      <p:regular r:id="rId20"/>
      <p:bold r:id="rId21"/>
    </p:embeddedFont>
    <p:embeddedFont>
      <p:font typeface="Source Sans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22" Type="http://schemas.openxmlformats.org/officeDocument/2006/relationships/font" Target="fonts/SourceSansPro-regular.fntdata"/><Relationship Id="rId21" Type="http://schemas.openxmlformats.org/officeDocument/2006/relationships/font" Target="fonts/Oswald-bold.fntdata"/><Relationship Id="rId24" Type="http://schemas.openxmlformats.org/officeDocument/2006/relationships/font" Target="fonts/SourceSansPro-italic.fntdata"/><Relationship Id="rId23" Type="http://schemas.openxmlformats.org/officeDocument/2006/relationships/font" Target="fonts/SourceSansPr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SourceSans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584523d32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584523d3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5a55318ad4_17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5a55318ad4_1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5a55318ad4_18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5a55318ad4_1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5a55318ad4_18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5a55318ad4_1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5a55318ad4_18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5a55318ad4_18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584523d326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584523d32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84523d326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84523d3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35" name="Google Shape;35;p2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36" name="Google Shape;36;p2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40" name="Google Shape;40;p2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1" name="Google Shape;41;p2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2" name="Google Shape;42;p2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3" name="Google Shape;43;p2"/>
          <p:cNvGrpSpPr/>
          <p:nvPr/>
        </p:nvGrpSpPr>
        <p:grpSpPr>
          <a:xfrm>
            <a:off x="-42837" y="2005088"/>
            <a:ext cx="9229575" cy="642787"/>
            <a:chOff x="-42837" y="4443488"/>
            <a:chExt cx="9229575" cy="642787"/>
          </a:xfrm>
        </p:grpSpPr>
        <p:sp>
          <p:nvSpPr>
            <p:cNvPr id="44" name="Google Shape;44;p2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2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 txBox="1"/>
          <p:nvPr>
            <p:ph type="ctrTitle"/>
          </p:nvPr>
        </p:nvSpPr>
        <p:spPr>
          <a:xfrm>
            <a:off x="2847975" y="3363425"/>
            <a:ext cx="56103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76" name="Google Shape;76;p3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77" name="Google Shape;77;p3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3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81" name="Google Shape;81;p3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2" name="Google Shape;82;p3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" name="Google Shape;83;p3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4" name="Google Shape;84;p3"/>
          <p:cNvGrpSpPr/>
          <p:nvPr/>
        </p:nvGrpSpPr>
        <p:grpSpPr>
          <a:xfrm>
            <a:off x="-42837" y="2005088"/>
            <a:ext cx="9229575" cy="642787"/>
            <a:chOff x="-42837" y="4443488"/>
            <a:chExt cx="9229575" cy="642787"/>
          </a:xfrm>
        </p:grpSpPr>
        <p:sp>
          <p:nvSpPr>
            <p:cNvPr id="85" name="Google Shape;85;p3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3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 txBox="1"/>
          <p:nvPr>
            <p:ph type="ctrTitle"/>
          </p:nvPr>
        </p:nvSpPr>
        <p:spPr>
          <a:xfrm>
            <a:off x="2309350" y="3031150"/>
            <a:ext cx="5214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" name="Google Shape;115;p3"/>
          <p:cNvSpPr txBox="1"/>
          <p:nvPr>
            <p:ph idx="1" type="subTitle"/>
          </p:nvPr>
        </p:nvSpPr>
        <p:spPr>
          <a:xfrm>
            <a:off x="2309441" y="4059250"/>
            <a:ext cx="5214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1519975" y="2161800"/>
            <a:ext cx="61041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419100" lvl="0" marL="457200" rtl="0" algn="ctr">
              <a:spcBef>
                <a:spcPts val="600"/>
              </a:spcBef>
              <a:spcAft>
                <a:spcPts val="0"/>
              </a:spcAft>
              <a:buSzPts val="3000"/>
              <a:buChar char="◉"/>
              <a:defRPr i="1" sz="3000"/>
            </a:lvl1pPr>
            <a:lvl2pPr indent="-419100" lvl="1" marL="914400" rtl="0" algn="ctr">
              <a:spcBef>
                <a:spcPts val="0"/>
              </a:spcBef>
              <a:spcAft>
                <a:spcPts val="0"/>
              </a:spcAft>
              <a:buSzPts val="3000"/>
              <a:buChar char="◉"/>
              <a:defRPr i="1" sz="3000"/>
            </a:lvl2pPr>
            <a:lvl3pPr indent="-419100" lvl="2" marL="1371600" rtl="0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i="1" sz="3000"/>
            </a:lvl3pPr>
            <a:lvl4pPr indent="-419100" lvl="3" marL="1828800" rtl="0" algn="ctr">
              <a:spcBef>
                <a:spcPts val="0"/>
              </a:spcBef>
              <a:spcAft>
                <a:spcPts val="0"/>
              </a:spcAft>
              <a:buSzPts val="3000"/>
              <a:buChar char="●"/>
              <a:defRPr i="1" sz="3000"/>
            </a:lvl4pPr>
            <a:lvl5pPr indent="-419100" lvl="4" marL="2286000" rtl="0" algn="ctr">
              <a:spcBef>
                <a:spcPts val="0"/>
              </a:spcBef>
              <a:spcAft>
                <a:spcPts val="0"/>
              </a:spcAft>
              <a:buSzPts val="3000"/>
              <a:buChar char="○"/>
              <a:defRPr i="1" sz="3000"/>
            </a:lvl5pPr>
            <a:lvl6pPr indent="-419100" lvl="5" marL="2743200" rtl="0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i="1" sz="3000"/>
            </a:lvl6pPr>
            <a:lvl7pPr indent="-419100" lvl="6" marL="3200400" rtl="0" algn="ctr">
              <a:spcBef>
                <a:spcPts val="0"/>
              </a:spcBef>
              <a:spcAft>
                <a:spcPts val="0"/>
              </a:spcAft>
              <a:buSzPts val="3000"/>
              <a:buChar char="●"/>
              <a:defRPr i="1" sz="3000"/>
            </a:lvl7pPr>
            <a:lvl8pPr indent="-419100" lvl="7" marL="3657600" rtl="0" algn="ctr">
              <a:spcBef>
                <a:spcPts val="0"/>
              </a:spcBef>
              <a:spcAft>
                <a:spcPts val="0"/>
              </a:spcAft>
              <a:buSzPts val="3000"/>
              <a:buChar char="○"/>
              <a:defRPr i="1" sz="3000"/>
            </a:lvl8pPr>
            <a:lvl9pPr indent="-419100" lvl="8" marL="4114800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i="1" sz="3000"/>
            </a:lvl9pPr>
          </a:lstStyle>
          <a:p/>
        </p:txBody>
      </p:sp>
      <p:sp>
        <p:nvSpPr>
          <p:cNvPr id="119" name="Google Shape;119;p4"/>
          <p:cNvSpPr txBox="1"/>
          <p:nvPr/>
        </p:nvSpPr>
        <p:spPr>
          <a:xfrm>
            <a:off x="3593400" y="5527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00CEF6"/>
                </a:solidFill>
              </a:rPr>
              <a:t>“</a:t>
            </a:r>
            <a:endParaRPr sz="9600">
              <a:solidFill>
                <a:srgbClr val="00CEF6"/>
              </a:solidFill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122" name="Google Shape;122;p4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4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26" name="Google Shape;126;p4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7" name="Google Shape;127;p4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8" name="Google Shape;128;p4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29" name="Google Shape;129;p4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130" name="Google Shape;130;p4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4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2" name="Google Shape;162;p5"/>
          <p:cNvSpPr txBox="1"/>
          <p:nvPr>
            <p:ph idx="1" type="body"/>
          </p:nvPr>
        </p:nvSpPr>
        <p:spPr>
          <a:xfrm>
            <a:off x="1075850" y="1540175"/>
            <a:ext cx="6996600" cy="1922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◉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◉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3" name="Google Shape;163;p5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165" name="Google Shape;165;p5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5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69" name="Google Shape;169;p5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0" name="Google Shape;170;p5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1" name="Google Shape;171;p5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72" name="Google Shape;172;p5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173" name="Google Shape;173;p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5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05" name="Google Shape;205;p6"/>
          <p:cNvSpPr txBox="1"/>
          <p:nvPr>
            <p:ph idx="1" type="body"/>
          </p:nvPr>
        </p:nvSpPr>
        <p:spPr>
          <a:xfrm>
            <a:off x="1131500" y="1552950"/>
            <a:ext cx="3339900" cy="2665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◉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6" name="Google Shape;206;p6"/>
          <p:cNvSpPr txBox="1"/>
          <p:nvPr>
            <p:ph idx="2" type="body"/>
          </p:nvPr>
        </p:nvSpPr>
        <p:spPr>
          <a:xfrm>
            <a:off x="4672563" y="1552950"/>
            <a:ext cx="3339900" cy="2665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◉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7" name="Google Shape;207;p6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208" name="Google Shape;208;p6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209" name="Google Shape;209;p6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6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13" name="Google Shape;213;p6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4" name="Google Shape;214;p6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5" name="Google Shape;215;p6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16" name="Google Shape;216;p6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217" name="Google Shape;217;p6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9" name="Google Shape;249;p7"/>
          <p:cNvSpPr txBox="1"/>
          <p:nvPr>
            <p:ph idx="1" type="body"/>
          </p:nvPr>
        </p:nvSpPr>
        <p:spPr>
          <a:xfrm>
            <a:off x="705900" y="1626600"/>
            <a:ext cx="2471700" cy="329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◉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◉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0" name="Google Shape;250;p7"/>
          <p:cNvSpPr txBox="1"/>
          <p:nvPr>
            <p:ph idx="2" type="body"/>
          </p:nvPr>
        </p:nvSpPr>
        <p:spPr>
          <a:xfrm>
            <a:off x="3304125" y="1626600"/>
            <a:ext cx="2471700" cy="329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◉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◉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1" name="Google Shape;251;p7"/>
          <p:cNvSpPr txBox="1"/>
          <p:nvPr>
            <p:ph idx="3" type="body"/>
          </p:nvPr>
        </p:nvSpPr>
        <p:spPr>
          <a:xfrm>
            <a:off x="5902350" y="1626600"/>
            <a:ext cx="2471700" cy="329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◉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◉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2" name="Google Shape;252;p7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253" name="Google Shape;253;p7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254" name="Google Shape;254;p7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7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58" name="Google Shape;258;p7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9" name="Google Shape;259;p7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0" name="Google Shape;260;p7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61" name="Google Shape;261;p7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262" name="Google Shape;262;p7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7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94" name="Google Shape;294;p8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295" name="Google Shape;295;p8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296" name="Google Shape;296;p8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8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00" name="Google Shape;300;p8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1" name="Google Shape;301;p8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2" name="Google Shape;302;p8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03" name="Google Shape;303;p8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304" name="Google Shape;304;p8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8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 txBox="1"/>
          <p:nvPr>
            <p:ph idx="1" type="body"/>
          </p:nvPr>
        </p:nvSpPr>
        <p:spPr>
          <a:xfrm>
            <a:off x="457200" y="3852828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00CEF6"/>
              </a:buClr>
              <a:buSzPts val="1400"/>
              <a:buNone/>
              <a:defRPr sz="1400">
                <a:solidFill>
                  <a:srgbClr val="00CEF6"/>
                </a:solidFill>
              </a:defRPr>
            </a:lvl1pPr>
          </a:lstStyle>
          <a:p/>
        </p:txBody>
      </p:sp>
      <p:sp>
        <p:nvSpPr>
          <p:cNvPr id="336" name="Google Shape;336;p9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337" name="Google Shape;337;p9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338" name="Google Shape;338;p9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1" name="Google Shape;341;p9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42" name="Google Shape;342;p9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43" name="Google Shape;343;p9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44" name="Google Shape;344;p9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45" name="Google Shape;345;p9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346" name="Google Shape;346;p9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9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378" name="Google Shape;378;p10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379" name="Google Shape;379;p10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2" name="Google Shape;382;p10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83" name="Google Shape;383;p10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4" name="Google Shape;384;p10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5" name="Google Shape;385;p10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86" name="Google Shape;386;p10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387" name="Google Shape;387;p10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0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0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0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0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0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10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All graph">
  <p:cSld name="BLANK_2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"/>
          <p:cNvSpPr/>
          <p:nvPr/>
        </p:nvSpPr>
        <p:spPr>
          <a:xfrm>
            <a:off x="-20075" y="636775"/>
            <a:ext cx="9203950" cy="4550900"/>
          </a:xfrm>
          <a:custGeom>
            <a:rect b="b" l="l" r="r" t="t"/>
            <a:pathLst>
              <a:path extrusionOk="0" h="182036" w="368158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419" name="Google Shape;419;p11"/>
          <p:cNvSpPr/>
          <p:nvPr/>
        </p:nvSpPr>
        <p:spPr>
          <a:xfrm>
            <a:off x="-33475" y="768100"/>
            <a:ext cx="9210650" cy="4406200"/>
          </a:xfrm>
          <a:custGeom>
            <a:rect b="b" l="l" r="r" t="t"/>
            <a:pathLst>
              <a:path extrusionOk="0" h="176248" w="368426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420" name="Google Shape;420;p11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11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424" name="Google Shape;424;p11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25" name="Google Shape;425;p11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26" name="Google Shape;426;p11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27" name="Google Shape;427;p11"/>
          <p:cNvGrpSpPr/>
          <p:nvPr/>
        </p:nvGrpSpPr>
        <p:grpSpPr>
          <a:xfrm>
            <a:off x="-42837" y="633488"/>
            <a:ext cx="9229575" cy="642787"/>
            <a:chOff x="-42837" y="4443488"/>
            <a:chExt cx="9229575" cy="642787"/>
          </a:xfrm>
        </p:grpSpPr>
        <p:sp>
          <p:nvSpPr>
            <p:cNvPr id="428" name="Google Shape;428;p11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1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1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1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1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1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1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1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1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1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1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1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1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3" name="Google Shape;453;p11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letely blank">
  <p:cSld name="BLANK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381000" y="7"/>
            <a:ext cx="8382000" cy="5162348"/>
            <a:chOff x="381000" y="-18750"/>
            <a:chExt cx="8382000" cy="5181000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762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>
              <a:off x="1524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2286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3048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3810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4572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5334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096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858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7620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8382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81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1143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1905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2667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3429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4191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4953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5715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6477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7239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8001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8763000" y="-18750"/>
              <a:ext cx="0" cy="5181000"/>
            </a:xfrm>
            <a:prstGeom prst="straightConnector1">
              <a:avLst/>
            </a:prstGeom>
            <a:noFill/>
            <a:ln cap="flat" cmpd="sng" w="9525">
              <a:solidFill>
                <a:srgbClr val="F3F3F3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1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Oswald"/>
              <a:buNone/>
              <a:defRPr b="1" sz="2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1" name="Google Shape;31;p1"/>
          <p:cNvSpPr txBox="1"/>
          <p:nvPr>
            <p:ph idx="1" type="body"/>
          </p:nvPr>
        </p:nvSpPr>
        <p:spPr>
          <a:xfrm>
            <a:off x="1075850" y="1540175"/>
            <a:ext cx="69966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rgbClr val="28324A"/>
              </a:buClr>
              <a:buSzPts val="2000"/>
              <a:buFont typeface="Source Sans Pro"/>
              <a:buChar char="◉"/>
              <a:defRPr sz="20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ts val="1800"/>
              <a:buFont typeface="Source Sans Pro"/>
              <a:buChar char="◉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ts val="1800"/>
              <a:buFont typeface="Source Sans Pro"/>
              <a:buChar char="■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ts val="1800"/>
              <a:buFont typeface="Source Sans Pro"/>
              <a:buChar char="●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ts val="1800"/>
              <a:buFont typeface="Source Sans Pro"/>
              <a:buChar char="○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ts val="1800"/>
              <a:buFont typeface="Source Sans Pro"/>
              <a:buChar char="■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ts val="1800"/>
              <a:buFont typeface="Source Sans Pro"/>
              <a:buChar char="●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ts val="1800"/>
              <a:buFont typeface="Source Sans Pro"/>
              <a:buChar char="○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28324A"/>
              </a:buClr>
              <a:buSzPts val="1800"/>
              <a:buFont typeface="Source Sans Pro"/>
              <a:buChar char="■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2" name="Google Shape;32;p1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"/>
          <p:cNvSpPr txBox="1"/>
          <p:nvPr>
            <p:ph type="ctrTitle"/>
          </p:nvPr>
        </p:nvSpPr>
        <p:spPr>
          <a:xfrm>
            <a:off x="111450" y="3363425"/>
            <a:ext cx="89211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Amélioration du système de routage du simulateur d'Urbanloop grâce au paradigme SDN</a:t>
            </a:r>
            <a:endParaRPr/>
          </a:p>
        </p:txBody>
      </p:sp>
      <p:sp>
        <p:nvSpPr>
          <p:cNvPr id="465" name="Google Shape;465;p13"/>
          <p:cNvSpPr txBox="1"/>
          <p:nvPr/>
        </p:nvSpPr>
        <p:spPr>
          <a:xfrm>
            <a:off x="49225" y="73825"/>
            <a:ext cx="3063900" cy="14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Victor THEVENON</a:t>
            </a:r>
            <a:endParaRPr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Frédéric VENIER</a:t>
            </a:r>
            <a:endParaRPr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Encadrant : Thibault CHOLEZ</a:t>
            </a:r>
            <a:endParaRPr sz="1200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66" name="Google Shape;4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1725" y="118300"/>
            <a:ext cx="1631925" cy="16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0000" y="226223"/>
            <a:ext cx="1798274" cy="8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0000" y="1113151"/>
            <a:ext cx="1872201" cy="650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4"/>
          <p:cNvSpPr txBox="1"/>
          <p:nvPr>
            <p:ph type="title"/>
          </p:nvPr>
        </p:nvSpPr>
        <p:spPr>
          <a:xfrm>
            <a:off x="1047750" y="1007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SOMMAIRE</a:t>
            </a:r>
            <a:endParaRPr sz="2400"/>
          </a:p>
        </p:txBody>
      </p:sp>
      <p:sp>
        <p:nvSpPr>
          <p:cNvPr id="474" name="Google Shape;474;p14"/>
          <p:cNvSpPr txBox="1"/>
          <p:nvPr/>
        </p:nvSpPr>
        <p:spPr>
          <a:xfrm>
            <a:off x="4707075" y="836550"/>
            <a:ext cx="41574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</a:pPr>
            <a:r>
              <a:rPr b="1" lang="en"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Introduction</a:t>
            </a:r>
            <a:endParaRPr b="1" sz="18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</a:pPr>
            <a:r>
              <a:rPr b="1" lang="en"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 Software Defined Networking</a:t>
            </a:r>
            <a:endParaRPr b="1" sz="18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</a:pPr>
            <a:r>
              <a:rPr b="1" lang="en"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Application à l’URBANLOOP :</a:t>
            </a:r>
            <a:endParaRPr b="1" sz="18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Source Sans Pro"/>
              <a:buChar char="○"/>
            </a:pPr>
            <a:r>
              <a:rPr b="1" lang="en" sz="16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 simulateur</a:t>
            </a:r>
            <a:endParaRPr b="1" sz="1600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Source Sans Pro"/>
              <a:buChar char="○"/>
            </a:pPr>
            <a:r>
              <a:rPr b="1" lang="en" sz="16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Calcul des itinéraires</a:t>
            </a:r>
            <a:endParaRPr b="1" sz="1600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Source Sans Pro"/>
              <a:buChar char="○"/>
            </a:pPr>
            <a:r>
              <a:rPr b="1" lang="en" sz="16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Congestion</a:t>
            </a:r>
            <a:endParaRPr b="1" sz="1600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Source Sans Pro"/>
              <a:buChar char="○"/>
            </a:pPr>
            <a:r>
              <a:rPr b="1" lang="en" sz="16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Coupure d’une voie</a:t>
            </a:r>
            <a:endParaRPr b="1" sz="1600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</a:pPr>
            <a:r>
              <a:rPr b="1" lang="en"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Résultats</a:t>
            </a:r>
            <a:endParaRPr b="1" sz="18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</a:pPr>
            <a:r>
              <a:rPr b="1" lang="en"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Conclusion</a:t>
            </a:r>
            <a:endParaRPr sz="1800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8324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75" name="Google Shape;475;p14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6" name="Google Shape;476;p14"/>
          <p:cNvPicPr preferRelativeResize="0"/>
          <p:nvPr/>
        </p:nvPicPr>
        <p:blipFill rotWithShape="1">
          <a:blip r:embed="rId3">
            <a:alphaModFix/>
          </a:blip>
          <a:srcRect b="0" l="7432" r="7424" t="0"/>
          <a:stretch/>
        </p:blipFill>
        <p:spPr>
          <a:xfrm>
            <a:off x="584053" y="817800"/>
            <a:ext cx="3507900" cy="3507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"/>
          <p:cNvSpPr txBox="1"/>
          <p:nvPr/>
        </p:nvSpPr>
        <p:spPr>
          <a:xfrm>
            <a:off x="123050" y="3661925"/>
            <a:ext cx="90543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INTRODUCTION</a:t>
            </a:r>
            <a:endParaRPr sz="10000">
              <a:solidFill>
                <a:srgbClr val="3C78D8"/>
              </a:solidFill>
            </a:endParaRPr>
          </a:p>
        </p:txBody>
      </p:sp>
      <p:sp>
        <p:nvSpPr>
          <p:cNvPr id="482" name="Google Shape;482;p15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6"/>
          <p:cNvSpPr txBox="1"/>
          <p:nvPr>
            <p:ph type="title"/>
          </p:nvPr>
        </p:nvSpPr>
        <p:spPr>
          <a:xfrm>
            <a:off x="1047750" y="3293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DEFINED NETWORKING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488" name="Google Shape;488;p16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9" name="Google Shape;4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175" y="1579550"/>
            <a:ext cx="561975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6"/>
          <p:cNvSpPr txBox="1"/>
          <p:nvPr/>
        </p:nvSpPr>
        <p:spPr>
          <a:xfrm>
            <a:off x="1736175" y="3913175"/>
            <a:ext cx="8035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999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source : https://www.commsbusiness.co.uk/features/software-defined-networking-sdn-explained/</a:t>
            </a:r>
            <a:endParaRPr sz="700">
              <a:solidFill>
                <a:srgbClr val="9999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 txBox="1"/>
          <p:nvPr>
            <p:ph idx="1" type="body"/>
          </p:nvPr>
        </p:nvSpPr>
        <p:spPr>
          <a:xfrm>
            <a:off x="1075850" y="1540175"/>
            <a:ext cx="6996600" cy="19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7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8" name="Google Shape;4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750" y="176563"/>
            <a:ext cx="708660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8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4" name="Google Shape;504;p18"/>
          <p:cNvPicPr preferRelativeResize="0"/>
          <p:nvPr/>
        </p:nvPicPr>
        <p:blipFill rotWithShape="1">
          <a:blip r:embed="rId3">
            <a:alphaModFix/>
          </a:blip>
          <a:srcRect b="0" l="7432" r="7424" t="0"/>
          <a:stretch/>
        </p:blipFill>
        <p:spPr>
          <a:xfrm>
            <a:off x="2818053" y="202550"/>
            <a:ext cx="3507900" cy="3507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05" name="Google Shape;505;p18"/>
          <p:cNvSpPr txBox="1"/>
          <p:nvPr>
            <p:ph idx="4294967295" type="ctrTitle"/>
          </p:nvPr>
        </p:nvSpPr>
        <p:spPr>
          <a:xfrm>
            <a:off x="685800" y="24977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/>
              <a:t>Le simulateur</a:t>
            </a:r>
            <a:endParaRPr sz="9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9"/>
          <p:cNvSpPr txBox="1"/>
          <p:nvPr>
            <p:ph idx="1" type="body"/>
          </p:nvPr>
        </p:nvSpPr>
        <p:spPr>
          <a:xfrm>
            <a:off x="2387850" y="1693050"/>
            <a:ext cx="4368300" cy="26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Algorithmes de routage 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Algorithme de Dijkstra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Algorithme A*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Algorithme de Floyd-Warshall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Algorithme de Bellman-Ford</a:t>
            </a:r>
            <a:endParaRPr/>
          </a:p>
        </p:txBody>
      </p:sp>
      <p:sp>
        <p:nvSpPr>
          <p:cNvPr id="511" name="Google Shape;511;p19"/>
          <p:cNvSpPr txBox="1"/>
          <p:nvPr>
            <p:ph type="title"/>
          </p:nvPr>
        </p:nvSpPr>
        <p:spPr>
          <a:xfrm>
            <a:off x="1047750" y="4817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Calcul des</a:t>
            </a:r>
            <a:r>
              <a:rPr lang="en" sz="2400"/>
              <a:t> itinéraires</a:t>
            </a:r>
            <a:endParaRPr sz="2400"/>
          </a:p>
        </p:txBody>
      </p:sp>
      <p:sp>
        <p:nvSpPr>
          <p:cNvPr id="512" name="Google Shape;512;p19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0"/>
          <p:cNvSpPr txBox="1"/>
          <p:nvPr>
            <p:ph type="title"/>
          </p:nvPr>
        </p:nvSpPr>
        <p:spPr>
          <a:xfrm>
            <a:off x="1047750" y="4817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C78D8"/>
                </a:solidFill>
              </a:rPr>
              <a:t>Gestion </a:t>
            </a:r>
            <a:r>
              <a:rPr lang="en" sz="2400">
                <a:solidFill>
                  <a:schemeClr val="accent1"/>
                </a:solidFill>
              </a:rPr>
              <a:t>de</a:t>
            </a:r>
            <a:r>
              <a:rPr lang="en" sz="2400">
                <a:solidFill>
                  <a:srgbClr val="3C78D8"/>
                </a:solidFill>
              </a:rPr>
              <a:t> la</a:t>
            </a:r>
            <a:r>
              <a:rPr lang="en" sz="2400"/>
              <a:t> congestion</a:t>
            </a:r>
            <a:endParaRPr sz="2400"/>
          </a:p>
        </p:txBody>
      </p:sp>
      <p:sp>
        <p:nvSpPr>
          <p:cNvPr id="518" name="Google Shape;518;p20"/>
          <p:cNvSpPr txBox="1"/>
          <p:nvPr>
            <p:ph idx="1" type="body"/>
          </p:nvPr>
        </p:nvSpPr>
        <p:spPr>
          <a:xfrm>
            <a:off x="705900" y="1553350"/>
            <a:ext cx="49422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TCP Round Trip Time :</a:t>
            </a:r>
            <a:endParaRPr b="1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Moyenne fluctuante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L’influence d’un échantillon diminue de façon exponentielle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Valeur typique </a:t>
            </a:r>
            <a:r>
              <a:rPr lang="en">
                <a:solidFill>
                  <a:srgbClr val="434343"/>
                </a:solidFill>
              </a:rPr>
              <a:t>de α : 0,125 (⅛)</a:t>
            </a:r>
            <a:endParaRPr/>
          </a:p>
        </p:txBody>
      </p:sp>
      <p:sp>
        <p:nvSpPr>
          <p:cNvPr id="519" name="Google Shape;519;p20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0" name="Google Shape;5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5400" y="3414250"/>
            <a:ext cx="5966400" cy="48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0"/>
          <p:cNvSpPr txBox="1"/>
          <p:nvPr/>
        </p:nvSpPr>
        <p:spPr>
          <a:xfrm>
            <a:off x="2685400" y="3771025"/>
            <a:ext cx="8035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999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source : module RSA - Partie réseau - Isabelle Chrisment</a:t>
            </a:r>
            <a:endParaRPr sz="700">
              <a:solidFill>
                <a:srgbClr val="9999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1"/>
          <p:cNvSpPr txBox="1"/>
          <p:nvPr>
            <p:ph type="title"/>
          </p:nvPr>
        </p:nvSpPr>
        <p:spPr>
          <a:xfrm>
            <a:off x="1047750" y="4817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C78D8"/>
                </a:solidFill>
              </a:rPr>
              <a:t>Gestion de la</a:t>
            </a:r>
            <a:r>
              <a:rPr lang="en" sz="2400"/>
              <a:t> congestion</a:t>
            </a:r>
            <a:endParaRPr sz="2400"/>
          </a:p>
        </p:txBody>
      </p:sp>
      <p:sp>
        <p:nvSpPr>
          <p:cNvPr id="527" name="Google Shape;527;p21"/>
          <p:cNvSpPr txBox="1"/>
          <p:nvPr>
            <p:ph idx="2" type="body"/>
          </p:nvPr>
        </p:nvSpPr>
        <p:spPr>
          <a:xfrm>
            <a:off x="705900" y="1553350"/>
            <a:ext cx="3263100" cy="20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TCP Vegas :</a:t>
            </a:r>
            <a:endParaRPr b="1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600"/>
              <a:buChar char="-"/>
            </a:pPr>
            <a:r>
              <a:rPr lang="en">
                <a:solidFill>
                  <a:srgbClr val="434343"/>
                </a:solidFill>
              </a:rPr>
              <a:t>Prédit et évite la congestion avant qu’elle se produise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1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9" name="Google Shape;5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200" y="1982125"/>
            <a:ext cx="4439974" cy="1993193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1"/>
          <p:cNvSpPr txBox="1"/>
          <p:nvPr>
            <p:ph idx="2" type="body"/>
          </p:nvPr>
        </p:nvSpPr>
        <p:spPr>
          <a:xfrm>
            <a:off x="4426200" y="1542000"/>
            <a:ext cx="3263100" cy="20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Algorithme :</a:t>
            </a:r>
            <a:endParaRPr/>
          </a:p>
        </p:txBody>
      </p:sp>
      <p:sp>
        <p:nvSpPr>
          <p:cNvPr id="531" name="Google Shape;531;p21"/>
          <p:cNvSpPr txBox="1"/>
          <p:nvPr/>
        </p:nvSpPr>
        <p:spPr>
          <a:xfrm>
            <a:off x="4650200" y="3902750"/>
            <a:ext cx="8035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999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source : module RSA - Partie réseau - Isabelle Chrisment</a:t>
            </a:r>
            <a:endParaRPr sz="700">
              <a:solidFill>
                <a:srgbClr val="9999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2"/>
          <p:cNvSpPr txBox="1"/>
          <p:nvPr>
            <p:ph type="title"/>
          </p:nvPr>
        </p:nvSpPr>
        <p:spPr>
          <a:xfrm>
            <a:off x="1047750" y="4817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C78D8"/>
                </a:solidFill>
              </a:rPr>
              <a:t>Gestion de la</a:t>
            </a:r>
            <a:r>
              <a:rPr lang="en" sz="2400"/>
              <a:t> coupure </a:t>
            </a:r>
            <a:r>
              <a:rPr lang="en" sz="2400">
                <a:solidFill>
                  <a:schemeClr val="accent1"/>
                </a:solidFill>
              </a:rPr>
              <a:t>d’une voie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537" name="Google Shape;537;p22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8" name="Google Shape;538;p22"/>
          <p:cNvPicPr preferRelativeResize="0"/>
          <p:nvPr/>
        </p:nvPicPr>
        <p:blipFill rotWithShape="1">
          <a:blip r:embed="rId3">
            <a:alphaModFix/>
          </a:blip>
          <a:srcRect b="0" l="6286" r="6286" t="0"/>
          <a:stretch/>
        </p:blipFill>
        <p:spPr>
          <a:xfrm>
            <a:off x="2858850" y="1197525"/>
            <a:ext cx="3426300" cy="3426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3"/>
          <p:cNvSpPr txBox="1"/>
          <p:nvPr>
            <p:ph type="title"/>
          </p:nvPr>
        </p:nvSpPr>
        <p:spPr>
          <a:xfrm>
            <a:off x="1047750" y="3293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</a:t>
            </a:r>
            <a:r>
              <a:rPr lang="en" sz="2400">
                <a:solidFill>
                  <a:srgbClr val="00CEF6"/>
                </a:solidFill>
              </a:rPr>
              <a:t>É</a:t>
            </a:r>
            <a:r>
              <a:rPr lang="en" sz="2400"/>
              <a:t>SULTATS</a:t>
            </a:r>
            <a:endParaRPr sz="2400"/>
          </a:p>
        </p:txBody>
      </p:sp>
      <p:sp>
        <p:nvSpPr>
          <p:cNvPr id="544" name="Google Shape;544;p23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5" name="Google Shape;5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" y="1251475"/>
            <a:ext cx="7332721" cy="36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4"/>
          <p:cNvSpPr txBox="1"/>
          <p:nvPr>
            <p:ph type="title"/>
          </p:nvPr>
        </p:nvSpPr>
        <p:spPr>
          <a:xfrm>
            <a:off x="1047750" y="3293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</a:t>
            </a:r>
            <a:r>
              <a:rPr lang="en" sz="2400">
                <a:solidFill>
                  <a:srgbClr val="00CEF6"/>
                </a:solidFill>
              </a:rPr>
              <a:t>É</a:t>
            </a:r>
            <a:r>
              <a:rPr lang="en" sz="2400"/>
              <a:t>SULTATS</a:t>
            </a:r>
            <a:endParaRPr sz="2400"/>
          </a:p>
        </p:txBody>
      </p:sp>
      <p:sp>
        <p:nvSpPr>
          <p:cNvPr id="551" name="Google Shape;551;p24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2" name="Google Shape;552;p24"/>
          <p:cNvPicPr preferRelativeResize="0"/>
          <p:nvPr/>
        </p:nvPicPr>
        <p:blipFill rotWithShape="1">
          <a:blip r:embed="rId3">
            <a:alphaModFix/>
          </a:blip>
          <a:srcRect b="5814" l="0" r="0" t="5823"/>
          <a:stretch/>
        </p:blipFill>
        <p:spPr>
          <a:xfrm>
            <a:off x="895350" y="1175275"/>
            <a:ext cx="7332721" cy="36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5"/>
          <p:cNvSpPr txBox="1"/>
          <p:nvPr>
            <p:ph type="title"/>
          </p:nvPr>
        </p:nvSpPr>
        <p:spPr>
          <a:xfrm>
            <a:off x="1047750" y="3293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</a:t>
            </a:r>
            <a:r>
              <a:rPr lang="en" sz="2400">
                <a:solidFill>
                  <a:srgbClr val="00CEF6"/>
                </a:solidFill>
              </a:rPr>
              <a:t>É</a:t>
            </a:r>
            <a:r>
              <a:rPr lang="en" sz="2400"/>
              <a:t>SULTATS</a:t>
            </a:r>
            <a:endParaRPr sz="2400"/>
          </a:p>
        </p:txBody>
      </p:sp>
      <p:sp>
        <p:nvSpPr>
          <p:cNvPr id="558" name="Google Shape;558;p25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9" name="Google Shape;559;p25"/>
          <p:cNvPicPr preferRelativeResize="0"/>
          <p:nvPr/>
        </p:nvPicPr>
        <p:blipFill rotWithShape="1">
          <a:blip r:embed="rId3">
            <a:alphaModFix/>
          </a:blip>
          <a:srcRect b="1228" l="0" r="0" t="1238"/>
          <a:stretch/>
        </p:blipFill>
        <p:spPr>
          <a:xfrm>
            <a:off x="895350" y="1175275"/>
            <a:ext cx="7332721" cy="364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 txBox="1"/>
          <p:nvPr>
            <p:ph type="title"/>
          </p:nvPr>
        </p:nvSpPr>
        <p:spPr>
          <a:xfrm>
            <a:off x="1047750" y="3293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</a:t>
            </a:r>
            <a:r>
              <a:rPr lang="en" sz="2400">
                <a:solidFill>
                  <a:srgbClr val="00CEF6"/>
                </a:solidFill>
              </a:rPr>
              <a:t>É</a:t>
            </a:r>
            <a:r>
              <a:rPr lang="en" sz="2400"/>
              <a:t>SULTATS</a:t>
            </a:r>
            <a:endParaRPr sz="2400"/>
          </a:p>
        </p:txBody>
      </p:sp>
      <p:sp>
        <p:nvSpPr>
          <p:cNvPr id="565" name="Google Shape;565;p26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6" name="Google Shape;566;p26"/>
          <p:cNvPicPr preferRelativeResize="0"/>
          <p:nvPr/>
        </p:nvPicPr>
        <p:blipFill rotWithShape="1">
          <a:blip r:embed="rId3">
            <a:alphaModFix/>
          </a:blip>
          <a:srcRect b="1228" l="0" r="0" t="1238"/>
          <a:stretch/>
        </p:blipFill>
        <p:spPr>
          <a:xfrm>
            <a:off x="895350" y="1175275"/>
            <a:ext cx="7332721" cy="364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7"/>
          <p:cNvSpPr txBox="1"/>
          <p:nvPr>
            <p:ph idx="4294967295" type="ctrTitle"/>
          </p:nvPr>
        </p:nvSpPr>
        <p:spPr>
          <a:xfrm>
            <a:off x="1275150" y="2040550"/>
            <a:ext cx="65937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Conclusion</a:t>
            </a:r>
            <a:endParaRPr sz="10000"/>
          </a:p>
        </p:txBody>
      </p:sp>
      <p:sp>
        <p:nvSpPr>
          <p:cNvPr id="572" name="Google Shape;572;p27"/>
          <p:cNvSpPr txBox="1"/>
          <p:nvPr>
            <p:ph idx="4294967295" type="subTitle"/>
          </p:nvPr>
        </p:nvSpPr>
        <p:spPr>
          <a:xfrm>
            <a:off x="1275150" y="2325749"/>
            <a:ext cx="6593700" cy="16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  <p:sp>
        <p:nvSpPr>
          <p:cNvPr id="573" name="Google Shape;573;p27"/>
          <p:cNvSpPr txBox="1"/>
          <p:nvPr>
            <p:ph idx="12" type="sldNum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inc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